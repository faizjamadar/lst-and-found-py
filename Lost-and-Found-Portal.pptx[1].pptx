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1" r:id="rId5"/>
    <p:sldId id="259" r:id="rId6"/>
    <p:sldId id="260" r:id="rId7"/>
    <p:sldId id="266" r:id="rId8"/>
    <p:sldId id="265" r:id="rId9"/>
  </p:sldIdLst>
  <p:sldSz cx="18288000" cy="10287000"/>
  <p:notesSz cx="6858000" cy="9144000"/>
  <p:embeddedFontLst>
    <p:embeddedFont>
      <p:font typeface="Canva Sans" panose="020B0604020202020204" charset="0"/>
      <p:regular r:id="rId11"/>
    </p:embeddedFont>
    <p:embeddedFont>
      <p:font typeface="Canva Sans Bold" panose="020B0604020202020204" charset="0"/>
      <p:regular r:id="rId12"/>
    </p:embeddedFont>
    <p:embeddedFont>
      <p:font typeface="Crimson Pro Bold" panose="020B0604020202020204" charset="0"/>
      <p:regular r:id="rId13"/>
    </p:embeddedFont>
    <p:embeddedFont>
      <p:font typeface="Heebo" pitchFamily="2" charset="-79"/>
      <p:regular r:id="rId14"/>
    </p:embeddedFont>
    <p:embeddedFont>
      <p:font typeface="Heebo Bold" charset="-79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039" autoAdjust="0"/>
    <p:restoredTop sz="94622" autoAdjust="0"/>
  </p:normalViewPr>
  <p:slideViewPr>
    <p:cSldViewPr>
      <p:cViewPr varScale="1">
        <p:scale>
          <a:sx n="64" d="100"/>
          <a:sy n="64" d="100"/>
        </p:scale>
        <p:origin x="480" y="9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01.12.2025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525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6049019" y="9686925"/>
            <a:ext cx="2153256" cy="514350"/>
            <a:chOff x="0" y="0"/>
            <a:chExt cx="2871008" cy="685800"/>
          </a:xfrm>
        </p:grpSpPr>
        <p:sp>
          <p:nvSpPr>
            <p:cNvPr id="7" name="Freeform 7" descr="preencoded.png">
              <a:hlinkClick r:id="rId3" tooltip="https://gamma.app/?utm_source=made-with-gamma"/>
            </p:cNvPr>
            <p:cNvSpPr/>
            <p:nvPr/>
          </p:nvSpPr>
          <p:spPr>
            <a:xfrm>
              <a:off x="0" y="0"/>
              <a:ext cx="2870962" cy="685800"/>
            </a:xfrm>
            <a:custGeom>
              <a:avLst/>
              <a:gdLst/>
              <a:ahLst/>
              <a:cxnLst/>
              <a:rect l="l" t="t" r="r" b="b"/>
              <a:pathLst>
                <a:path w="2870962" h="685800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"/>
              </a:stretch>
            </a:blipFill>
          </p:spPr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992238" y="2062014"/>
            <a:ext cx="9445526" cy="3620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37"/>
              </a:lnSpc>
            </a:pPr>
            <a:r>
              <a:rPr lang="en-US" sz="11124" b="1">
                <a:solidFill>
                  <a:srgbClr val="152D47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Lost and Found Portal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38" y="6069509"/>
            <a:ext cx="8456562" cy="6706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 b="1" dirty="0">
                <a:solidFill>
                  <a:srgbClr val="152D47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A Simple CRUD Web Application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80826" y="7657158"/>
            <a:ext cx="9445526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A clean, efficient web application for managing lost and found items with a modern tech stack.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2237" y="8791642"/>
            <a:ext cx="7622084" cy="904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1"/>
              </a:lnSpc>
            </a:pPr>
            <a:r>
              <a:rPr lang="en-US" sz="3137" b="1">
                <a:solidFill>
                  <a:srgbClr val="152D47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Faiz Zakirhusen Jamadar</a:t>
            </a:r>
          </a:p>
          <a:p>
            <a:pPr algn="l">
              <a:lnSpc>
                <a:spcPts val="3180"/>
              </a:lnSpc>
            </a:pPr>
            <a:r>
              <a:rPr lang="en-US" sz="2537" b="1">
                <a:solidFill>
                  <a:srgbClr val="152D47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25PMCO28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76200" y="3810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0" y="0"/>
            <a:ext cx="6858000" cy="10287000"/>
            <a:chOff x="0" y="0"/>
            <a:chExt cx="914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7736681" y="1239292"/>
            <a:ext cx="9380081" cy="796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49"/>
              </a:lnSpc>
            </a:pPr>
            <a:r>
              <a:rPr lang="en-US" sz="4999" b="1" dirty="0">
                <a:solidFill>
                  <a:srgbClr val="152D47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Introduction &amp; Technology Stack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752160" y="2645569"/>
            <a:ext cx="3193851" cy="418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1">
                <a:solidFill>
                  <a:srgbClr val="152D47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Project Overview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752160" y="3225701"/>
            <a:ext cx="4509195" cy="3346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 dirty="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This Lost and Found Portal is a simple yet powerful web application designed to help users report lost items and claim them through a central system. It provides an intuitive interface for managing items with full </a:t>
            </a:r>
            <a:r>
              <a:rPr lang="en-US" sz="2000" b="1" dirty="0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CRUD functionality</a:t>
            </a:r>
            <a:r>
              <a:rPr lang="en-US" sz="2000" dirty="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—Create, Read, Update, and Delete operations.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328555" y="8081963"/>
            <a:ext cx="10671643" cy="776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The application solves a real problem: creating an organized, searchable repository where community members can post discoveries and reconnect lost belongings with their owners.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894171" y="2628305"/>
            <a:ext cx="3609826" cy="418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1">
                <a:solidFill>
                  <a:srgbClr val="152D47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Modern, Lightweight Stack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894171" y="3334049"/>
            <a:ext cx="4509195" cy="893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1625" lvl="1" indent="-150812" algn="l">
              <a:lnSpc>
                <a:spcPts val="3187"/>
              </a:lnSpc>
              <a:buFont typeface="Arial"/>
              <a:buChar char="•"/>
            </a:pPr>
            <a:r>
              <a:rPr lang="en-US" sz="2000" b="1" dirty="0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Backend:</a:t>
            </a:r>
            <a:r>
              <a:rPr lang="en-US" sz="2000" dirty="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Python—clean, readable, and powerful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894171" y="4289748"/>
            <a:ext cx="4509195" cy="776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1625" lvl="1" indent="-150812" algn="l">
              <a:lnSpc>
                <a:spcPts val="3187"/>
              </a:lnSpc>
              <a:buFont typeface="Arial"/>
              <a:buChar char="•"/>
            </a:pPr>
            <a:r>
              <a:rPr lang="en-US" sz="2000" b="1" dirty="0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Framework:</a:t>
            </a:r>
            <a:r>
              <a:rPr lang="en-US" sz="2000" dirty="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Flask—a micro-framework requiring minimal code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894171" y="5332736"/>
            <a:ext cx="4509195" cy="893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1625" lvl="1" indent="-150812" algn="l">
              <a:lnSpc>
                <a:spcPts val="3187"/>
              </a:lnSpc>
              <a:buFont typeface="Arial"/>
              <a:buChar char="•"/>
            </a:pPr>
            <a:r>
              <a:rPr lang="en-US" sz="2000" b="1" dirty="0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Database:</a:t>
            </a:r>
            <a:r>
              <a:rPr lang="en-US" sz="2000" dirty="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SQLite—serverless, file-based, zero setup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894171" y="6426064"/>
            <a:ext cx="4509195" cy="893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1625" lvl="1" indent="-150812" algn="l">
              <a:lnSpc>
                <a:spcPts val="3187"/>
              </a:lnSpc>
              <a:buFont typeface="Arial"/>
              <a:buChar char="•"/>
            </a:pPr>
            <a:r>
              <a:rPr lang="en-US" sz="2000" b="1" dirty="0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Frontend:</a:t>
            </a:r>
            <a:r>
              <a:rPr lang="en-US" sz="2000" dirty="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HTML &amp; CSS—standard, responsive building blocks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0" y="0"/>
            <a:ext cx="6858000" cy="10290274"/>
            <a:chOff x="0" y="0"/>
            <a:chExt cx="9144000" cy="13720365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20318"/>
            </a:xfrm>
            <a:custGeom>
              <a:avLst/>
              <a:gdLst/>
              <a:ahLst/>
              <a:cxnLst/>
              <a:rect l="l" t="t" r="r" b="b"/>
              <a:pathLst>
                <a:path w="9144000" h="13720318">
                  <a:moveTo>
                    <a:pt x="0" y="0"/>
                  </a:moveTo>
                  <a:lnTo>
                    <a:pt x="9144000" y="0"/>
                  </a:lnTo>
                  <a:lnTo>
                    <a:pt x="9144000" y="13720318"/>
                  </a:lnTo>
                  <a:lnTo>
                    <a:pt x="0" y="137203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5" r="-15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7580560" y="539055"/>
            <a:ext cx="8005620" cy="642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62"/>
              </a:lnSpc>
            </a:pPr>
            <a:r>
              <a:rPr lang="en-US" sz="4062" b="1">
                <a:solidFill>
                  <a:srgbClr val="152D47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System Architecture &amp; Data Flow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580560" y="1664146"/>
            <a:ext cx="9984879" cy="627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625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The system is structured in two levels of data flow diagrams to show both the holistic view and internal processes.</a:t>
            </a:r>
          </a:p>
        </p:txBody>
      </p: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7580560" y="2415034"/>
            <a:ext cx="1032122" cy="1238696"/>
            <a:chOff x="0" y="0"/>
            <a:chExt cx="1376163" cy="1651595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1376172" cy="1651635"/>
            </a:xfrm>
            <a:custGeom>
              <a:avLst/>
              <a:gdLst/>
              <a:ahLst/>
              <a:cxnLst/>
              <a:rect l="l" t="t" r="r" b="b"/>
              <a:pathLst>
                <a:path w="1376172" h="1651635">
                  <a:moveTo>
                    <a:pt x="0" y="0"/>
                  </a:moveTo>
                  <a:lnTo>
                    <a:pt x="1376172" y="0"/>
                  </a:lnTo>
                  <a:lnTo>
                    <a:pt x="1376172" y="1651635"/>
                  </a:lnTo>
                  <a:lnTo>
                    <a:pt x="0" y="16516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48" b="-145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8819109" y="2592884"/>
            <a:ext cx="2580531" cy="351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 b="1" dirty="0">
                <a:solidFill>
                  <a:srgbClr val="4C4C4D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User Input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819109" y="3010644"/>
            <a:ext cx="8746331" cy="387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625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New items and management actions</a:t>
            </a:r>
          </a:p>
        </p:txBody>
      </p: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7580560" y="3653730"/>
            <a:ext cx="1032122" cy="1238696"/>
            <a:chOff x="0" y="0"/>
            <a:chExt cx="1376163" cy="1651595"/>
          </a:xfrm>
        </p:grpSpPr>
        <p:sp>
          <p:nvSpPr>
            <p:cNvPr id="15" name="Freeform 15" descr="preencoded.png"/>
            <p:cNvSpPr/>
            <p:nvPr/>
          </p:nvSpPr>
          <p:spPr>
            <a:xfrm>
              <a:off x="0" y="0"/>
              <a:ext cx="1376172" cy="1651635"/>
            </a:xfrm>
            <a:custGeom>
              <a:avLst/>
              <a:gdLst/>
              <a:ahLst/>
              <a:cxnLst/>
              <a:rect l="l" t="t" r="r" b="b"/>
              <a:pathLst>
                <a:path w="1376172" h="1651635">
                  <a:moveTo>
                    <a:pt x="0" y="0"/>
                  </a:moveTo>
                  <a:lnTo>
                    <a:pt x="1376172" y="0"/>
                  </a:lnTo>
                  <a:lnTo>
                    <a:pt x="1376172" y="1651635"/>
                  </a:lnTo>
                  <a:lnTo>
                    <a:pt x="0" y="16516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48" b="-145"/>
              </a:stretch>
            </a:blipFill>
          </p:spPr>
        </p:sp>
      </p:grpSp>
      <p:sp>
        <p:nvSpPr>
          <p:cNvPr id="16" name="TextBox 16"/>
          <p:cNvSpPr txBox="1"/>
          <p:nvPr/>
        </p:nvSpPr>
        <p:spPr>
          <a:xfrm>
            <a:off x="8819109" y="3831580"/>
            <a:ext cx="2580531" cy="351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 b="1" dirty="0">
                <a:solidFill>
                  <a:srgbClr val="4C4C4D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System Process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819109" y="4249341"/>
            <a:ext cx="8746331" cy="387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625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Add, display, and manage items</a:t>
            </a:r>
          </a:p>
        </p:txBody>
      </p: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7580560" y="4892427"/>
            <a:ext cx="1032122" cy="1238696"/>
            <a:chOff x="0" y="0"/>
            <a:chExt cx="1376163" cy="1651595"/>
          </a:xfrm>
        </p:grpSpPr>
        <p:sp>
          <p:nvSpPr>
            <p:cNvPr id="19" name="Freeform 19" descr="preencoded.png"/>
            <p:cNvSpPr/>
            <p:nvPr/>
          </p:nvSpPr>
          <p:spPr>
            <a:xfrm>
              <a:off x="0" y="0"/>
              <a:ext cx="1376172" cy="1651635"/>
            </a:xfrm>
            <a:custGeom>
              <a:avLst/>
              <a:gdLst/>
              <a:ahLst/>
              <a:cxnLst/>
              <a:rect l="l" t="t" r="r" b="b"/>
              <a:pathLst>
                <a:path w="1376172" h="1651635">
                  <a:moveTo>
                    <a:pt x="0" y="0"/>
                  </a:moveTo>
                  <a:lnTo>
                    <a:pt x="1376172" y="0"/>
                  </a:lnTo>
                  <a:lnTo>
                    <a:pt x="1376172" y="1651635"/>
                  </a:lnTo>
                  <a:lnTo>
                    <a:pt x="0" y="16516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48" b="-145"/>
              </a:stretch>
            </a:blipFill>
          </p:spPr>
        </p:sp>
      </p:grpSp>
      <p:sp>
        <p:nvSpPr>
          <p:cNvPr id="20" name="TextBox 20"/>
          <p:cNvSpPr txBox="1"/>
          <p:nvPr/>
        </p:nvSpPr>
        <p:spPr>
          <a:xfrm>
            <a:off x="8819109" y="5070276"/>
            <a:ext cx="2580531" cy="351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 b="1" dirty="0">
                <a:solidFill>
                  <a:srgbClr val="4C4C4D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Output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819109" y="5488038"/>
            <a:ext cx="8746331" cy="387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625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Updated item list and confirmations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580560" y="6431161"/>
            <a:ext cx="3096666" cy="396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 b="1">
                <a:solidFill>
                  <a:srgbClr val="152D47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Core System Processes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7580560" y="7137350"/>
            <a:ext cx="4889152" cy="1189435"/>
            <a:chOff x="0" y="0"/>
            <a:chExt cx="6518870" cy="1585913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518910" cy="1585849"/>
            </a:xfrm>
            <a:custGeom>
              <a:avLst/>
              <a:gdLst/>
              <a:ahLst/>
              <a:cxnLst/>
              <a:rect l="l" t="t" r="r" b="b"/>
              <a:pathLst>
                <a:path w="6518910" h="1585849">
                  <a:moveTo>
                    <a:pt x="0" y="41275"/>
                  </a:moveTo>
                  <a:cubicBezTo>
                    <a:pt x="0" y="18542"/>
                    <a:pt x="18542" y="0"/>
                    <a:pt x="41275" y="0"/>
                  </a:cubicBezTo>
                  <a:lnTo>
                    <a:pt x="6477635" y="0"/>
                  </a:lnTo>
                  <a:cubicBezTo>
                    <a:pt x="6500495" y="0"/>
                    <a:pt x="6518910" y="18542"/>
                    <a:pt x="6518910" y="41275"/>
                  </a:cubicBezTo>
                  <a:lnTo>
                    <a:pt x="6518910" y="1544574"/>
                  </a:lnTo>
                  <a:cubicBezTo>
                    <a:pt x="6518910" y="1567434"/>
                    <a:pt x="6500368" y="1585849"/>
                    <a:pt x="6477635" y="1585849"/>
                  </a:cubicBezTo>
                  <a:lnTo>
                    <a:pt x="41275" y="1585849"/>
                  </a:lnTo>
                  <a:cubicBezTo>
                    <a:pt x="18415" y="1585849"/>
                    <a:pt x="0" y="1567307"/>
                    <a:pt x="0" y="1544574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id="25" name="TextBox 25"/>
          <p:cNvSpPr txBox="1"/>
          <p:nvPr/>
        </p:nvSpPr>
        <p:spPr>
          <a:xfrm>
            <a:off x="7786985" y="7315200"/>
            <a:ext cx="2580531" cy="351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 b="1">
                <a:solidFill>
                  <a:srgbClr val="4C4C4D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Add Item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786985" y="7732960"/>
            <a:ext cx="4476304" cy="387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625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Captures user data and writes to database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2676137" y="7137350"/>
            <a:ext cx="4889301" cy="1189435"/>
            <a:chOff x="0" y="0"/>
            <a:chExt cx="6519068" cy="1585913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519037" cy="1585849"/>
            </a:xfrm>
            <a:custGeom>
              <a:avLst/>
              <a:gdLst/>
              <a:ahLst/>
              <a:cxnLst/>
              <a:rect l="l" t="t" r="r" b="b"/>
              <a:pathLst>
                <a:path w="6519037" h="1585849">
                  <a:moveTo>
                    <a:pt x="0" y="41275"/>
                  </a:moveTo>
                  <a:cubicBezTo>
                    <a:pt x="0" y="18542"/>
                    <a:pt x="18542" y="0"/>
                    <a:pt x="41275" y="0"/>
                  </a:cubicBezTo>
                  <a:lnTo>
                    <a:pt x="6477762" y="0"/>
                  </a:lnTo>
                  <a:cubicBezTo>
                    <a:pt x="6500622" y="0"/>
                    <a:pt x="6519037" y="18542"/>
                    <a:pt x="6519037" y="41275"/>
                  </a:cubicBezTo>
                  <a:lnTo>
                    <a:pt x="6519037" y="1544574"/>
                  </a:lnTo>
                  <a:cubicBezTo>
                    <a:pt x="6519037" y="1567434"/>
                    <a:pt x="6500495" y="1585849"/>
                    <a:pt x="6477762" y="1585849"/>
                  </a:cubicBezTo>
                  <a:lnTo>
                    <a:pt x="41275" y="1585849"/>
                  </a:lnTo>
                  <a:cubicBezTo>
                    <a:pt x="18415" y="1585849"/>
                    <a:pt x="0" y="1567307"/>
                    <a:pt x="0" y="1544574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id="29" name="TextBox 29"/>
          <p:cNvSpPr txBox="1"/>
          <p:nvPr/>
        </p:nvSpPr>
        <p:spPr>
          <a:xfrm>
            <a:off x="12882562" y="7315200"/>
            <a:ext cx="2580531" cy="351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 b="1">
                <a:solidFill>
                  <a:srgbClr val="4C4C4D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Display Items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882562" y="7732960"/>
            <a:ext cx="4476452" cy="387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625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Reads database to show item list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7580560" y="8533210"/>
            <a:ext cx="9984879" cy="1189435"/>
            <a:chOff x="0" y="0"/>
            <a:chExt cx="13313172" cy="1585913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3313156" cy="1585849"/>
            </a:xfrm>
            <a:custGeom>
              <a:avLst/>
              <a:gdLst/>
              <a:ahLst/>
              <a:cxnLst/>
              <a:rect l="l" t="t" r="r" b="b"/>
              <a:pathLst>
                <a:path w="13313156" h="1585849">
                  <a:moveTo>
                    <a:pt x="0" y="41275"/>
                  </a:moveTo>
                  <a:cubicBezTo>
                    <a:pt x="0" y="18542"/>
                    <a:pt x="18542" y="0"/>
                    <a:pt x="41275" y="0"/>
                  </a:cubicBezTo>
                  <a:lnTo>
                    <a:pt x="13271881" y="0"/>
                  </a:lnTo>
                  <a:cubicBezTo>
                    <a:pt x="13294742" y="0"/>
                    <a:pt x="13313156" y="18542"/>
                    <a:pt x="13313156" y="41275"/>
                  </a:cubicBezTo>
                  <a:lnTo>
                    <a:pt x="13313156" y="1544574"/>
                  </a:lnTo>
                  <a:cubicBezTo>
                    <a:pt x="13313156" y="1567434"/>
                    <a:pt x="13294615" y="1585849"/>
                    <a:pt x="13271881" y="1585849"/>
                  </a:cubicBezTo>
                  <a:lnTo>
                    <a:pt x="41275" y="1585849"/>
                  </a:lnTo>
                  <a:cubicBezTo>
                    <a:pt x="18415" y="1585849"/>
                    <a:pt x="0" y="1567307"/>
                    <a:pt x="0" y="1544574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id="33" name="TextBox 33"/>
          <p:cNvSpPr txBox="1"/>
          <p:nvPr/>
        </p:nvSpPr>
        <p:spPr>
          <a:xfrm>
            <a:off x="7786985" y="8711059"/>
            <a:ext cx="2580531" cy="351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 b="1">
                <a:solidFill>
                  <a:srgbClr val="4C4C4D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Manage Item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786985" y="9128820"/>
            <a:ext cx="9572030" cy="387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625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Updates or deletes items based on actions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973051" y="2362553"/>
            <a:ext cx="8341895" cy="5603911"/>
          </a:xfrm>
          <a:custGeom>
            <a:avLst/>
            <a:gdLst/>
            <a:ahLst/>
            <a:cxnLst/>
            <a:rect l="l" t="t" r="r" b="b"/>
            <a:pathLst>
              <a:path w="8341895" h="5603911">
                <a:moveTo>
                  <a:pt x="0" y="0"/>
                </a:moveTo>
                <a:lnTo>
                  <a:pt x="8341896" y="0"/>
                </a:lnTo>
                <a:lnTo>
                  <a:pt x="8341896" y="5603912"/>
                </a:lnTo>
                <a:lnTo>
                  <a:pt x="0" y="56039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22060" y="1362619"/>
            <a:ext cx="16230600" cy="735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2"/>
              </a:lnSpc>
              <a:spcBef>
                <a:spcPct val="0"/>
              </a:spcBef>
            </a:pPr>
            <a:r>
              <a:rPr lang="en-US" sz="1937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The ERD represents the logical structure of the database. Since this is a streamlined system, it utilizes a robust single-entity model to maintain all item records efficiently.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163389" y="270889"/>
            <a:ext cx="5961222" cy="586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1"/>
              </a:lnSpc>
              <a:spcBef>
                <a:spcPct val="0"/>
              </a:spcBef>
            </a:pPr>
            <a:r>
              <a:rPr lang="en-US" sz="3037" b="1">
                <a:solidFill>
                  <a:srgbClr val="000000"/>
                </a:solidFill>
                <a:latin typeface="Heebo Bold"/>
                <a:ea typeface="Heebo Bold"/>
                <a:cs typeface="Heebo Bold"/>
                <a:sym typeface="Heebo Bold"/>
              </a:rPr>
              <a:t>Entity-Relationship Diagram (ERD)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7C00C0-98FF-5DC1-CD8A-0E1755CFA5FA}"/>
              </a:ext>
            </a:extLst>
          </p:cNvPr>
          <p:cNvSpPr txBox="1"/>
          <p:nvPr/>
        </p:nvSpPr>
        <p:spPr>
          <a:xfrm>
            <a:off x="1562099" y="9410700"/>
            <a:ext cx="15163800" cy="459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1800" dirty="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This 3NF structure eliminates data redundancy and ensures data integrity—all fields depend directly on the primary key with no repeating groups.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2B2FAF-1CF2-3C8F-9E1C-28C8CE5F3AF5}"/>
              </a:ext>
            </a:extLst>
          </p:cNvPr>
          <p:cNvSpPr txBox="1"/>
          <p:nvPr/>
        </p:nvSpPr>
        <p:spPr>
          <a:xfrm>
            <a:off x="2571748" y="8694510"/>
            <a:ext cx="13144499" cy="459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1800" dirty="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A streamlined single-table model optimized for efficiency and simplicity, following </a:t>
            </a:r>
            <a:r>
              <a:rPr lang="en-US" sz="1800" b="1" dirty="0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Third Normal Form (3NF)</a:t>
            </a:r>
            <a:r>
              <a:rPr lang="en-US" sz="1800" dirty="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principles.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801141" y="591294"/>
            <a:ext cx="8342859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25"/>
              </a:lnSpc>
            </a:pPr>
            <a:r>
              <a:rPr lang="en-US" sz="4499" b="1">
                <a:solidFill>
                  <a:srgbClr val="152D47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System Design (DFD Level 0)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E65E94F-2339-8A95-D62E-349FA7D94C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250" y="3924300"/>
            <a:ext cx="15049500" cy="32765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2533266" y="1028700"/>
            <a:ext cx="13481428" cy="9188920"/>
          </a:xfrm>
          <a:custGeom>
            <a:avLst/>
            <a:gdLst/>
            <a:ahLst/>
            <a:cxnLst/>
            <a:rect l="l" t="t" r="r" b="b"/>
            <a:pathLst>
              <a:path w="13481428" h="9188920">
                <a:moveTo>
                  <a:pt x="0" y="0"/>
                </a:moveTo>
                <a:lnTo>
                  <a:pt x="13481428" y="0"/>
                </a:lnTo>
                <a:lnTo>
                  <a:pt x="13481428" y="9188920"/>
                </a:lnTo>
                <a:lnTo>
                  <a:pt x="0" y="91889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83" b="-983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21357" y="316855"/>
            <a:ext cx="6509830" cy="547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2"/>
              </a:lnSpc>
            </a:pPr>
            <a:r>
              <a:rPr lang="en-US" sz="3437" b="1">
                <a:solidFill>
                  <a:srgbClr val="152D47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System Design (DFD Level 1)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14C43D-BF5B-B323-E589-9519507017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2743200"/>
            <a:ext cx="17907000" cy="480059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C0744DF-EDB2-335A-93C5-12426D517E07}"/>
              </a:ext>
            </a:extLst>
          </p:cNvPr>
          <p:cNvSpPr/>
          <p:nvPr/>
        </p:nvSpPr>
        <p:spPr>
          <a:xfrm>
            <a:off x="2352370" y="0"/>
            <a:ext cx="148309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ERD </a:t>
            </a:r>
            <a:endParaRPr lang="en-GB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069455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9169" y="3600450"/>
            <a:ext cx="17662465" cy="3086100"/>
            <a:chOff x="0" y="0"/>
            <a:chExt cx="4651843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51843" cy="812800"/>
            </a:xfrm>
            <a:custGeom>
              <a:avLst/>
              <a:gdLst/>
              <a:ahLst/>
              <a:cxnLst/>
              <a:rect l="l" t="t" r="r" b="b"/>
              <a:pathLst>
                <a:path w="4651843" h="812800">
                  <a:moveTo>
                    <a:pt x="0" y="0"/>
                  </a:moveTo>
                  <a:lnTo>
                    <a:pt x="4651843" y="0"/>
                  </a:lnTo>
                  <a:lnTo>
                    <a:pt x="465184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5F2F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4651843" cy="87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62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-210963" y="3728402"/>
            <a:ext cx="6046129" cy="2734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You!</a:t>
            </a:r>
          </a:p>
          <a:p>
            <a:pPr algn="ctr">
              <a:lnSpc>
                <a:spcPts val="7279"/>
              </a:lnSpc>
            </a:pPr>
            <a:endParaRPr lang="en-US" sz="5199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ctr">
              <a:lnSpc>
                <a:spcPts val="7279"/>
              </a:lnSpc>
            </a:pPr>
            <a:endParaRPr lang="en-US" sz="5199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948444" y="4886796"/>
            <a:ext cx="16969628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 appreciate your time and attention today. We hope this presentation provided a clear understanding of the Lost and Found Portal's design and functionality.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1412</TotalTime>
  <Words>372</Words>
  <Application>Microsoft Office PowerPoint</Application>
  <PresentationFormat>Custom</PresentationFormat>
  <Paragraphs>53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Calibri</vt:lpstr>
      <vt:lpstr>Heebo</vt:lpstr>
      <vt:lpstr>Arial</vt:lpstr>
      <vt:lpstr>Canva Sans Bold</vt:lpstr>
      <vt:lpstr>Heebo Bold</vt:lpstr>
      <vt:lpstr>Canva Sans</vt:lpstr>
      <vt:lpstr>Crimson Pro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Lost-and-Found-Portal.pptx</dc:title>
  <dc:creator>Faiz Jamadar</dc:creator>
  <cp:lastModifiedBy>Faiz Jamadar</cp:lastModifiedBy>
  <cp:revision>7</cp:revision>
  <dcterms:created xsi:type="dcterms:W3CDTF">2006-08-16T00:00:00Z</dcterms:created>
  <dcterms:modified xsi:type="dcterms:W3CDTF">2025-12-01T13:05:55Z</dcterms:modified>
  <dc:identifier>DAG4RP9OtPA</dc:identifier>
</cp:coreProperties>
</file>